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81" r:id="rId22"/>
    <p:sldId id="273" r:id="rId23"/>
    <p:sldId id="274" r:id="rId24"/>
    <p:sldId id="282" r:id="rId25"/>
    <p:sldId id="275" r:id="rId26"/>
    <p:sldId id="276" r:id="rId27"/>
    <p:sldId id="277" r:id="rId28"/>
    <p:sldId id="278" r:id="rId29"/>
    <p:sldId id="279" r:id="rId30"/>
    <p:sldId id="280" r:id="rId31"/>
    <p:sldId id="283" r:id="rId3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36.xml"/><Relationship Id="rId5" Type="http://schemas.openxmlformats.org/officeDocument/2006/relationships/image" Target="../media/image10.png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image" Target="../media/image9.png"/><Relationship Id="rId1" Type="http://schemas.openxmlformats.org/officeDocument/2006/relationships/tags" Target="../tags/tag3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image" Target="../media/image11.png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3.png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4" Type="http://schemas.openxmlformats.org/officeDocument/2006/relationships/notesSlide" Target="../notesSlides/notesSlide26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1E3A5F">
              <a:alpha val="6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 SE-ResNet 的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猫狗图像分类系统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从零训练（From Scratch）— SE-ResNet18 &amp; SE-ResNet34 对比研究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25,000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训练图片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329184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98.56%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0" y="37490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最高验证精度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329184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0.1308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37490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Kaggle LogLoss</a:t>
            </a:r>
            <a:endParaRPr lang="en-US" sz="1100" dirty="0"/>
          </a:p>
        </p:txBody>
      </p:sp>
      <p:sp>
        <p:nvSpPr>
          <p:cNvPr id="14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A5F"/>
          </a:solidFill>
        </p:spPr>
        <p:txBody>
          <a:bodyPr/>
          <a:p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2237740" y="4820285"/>
            <a:ext cx="4668520" cy="271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基于 SE-ResNet 的猫狗图像分类系统  |  2026 年 6 </a:t>
            </a:r>
            <a:r>
              <a:rPr lang="zh-CN" alt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月</a:t>
            </a: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 |  </a:t>
            </a:r>
            <a:r>
              <a:rPr lang="zh-CN" alt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创新实践高级实训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3716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  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417320" y="1170432"/>
            <a:ext cx="27432" cy="36576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7" name="Text 5"/>
          <p:cNvSpPr/>
          <p:nvPr/>
        </p:nvSpPr>
        <p:spPr>
          <a:xfrm>
            <a:off x="1600200" y="1097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项目背景与数据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3716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任务定义 · 数据集分析 · 预处理策略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417320" y="1810512"/>
            <a:ext cx="27432" cy="36576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1" name="Text 9"/>
          <p:cNvSpPr/>
          <p:nvPr/>
        </p:nvSpPr>
        <p:spPr>
          <a:xfrm>
            <a:off x="1600200" y="17373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模型架构设计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0116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SE-ResNet · SEBlock 注意力 · 18 vs 34 层对比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37744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417320" y="2450592"/>
            <a:ext cx="27432" cy="36576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5" name="Text 13"/>
          <p:cNvSpPr/>
          <p:nvPr/>
        </p:nvSpPr>
        <p:spPr>
          <a:xfrm>
            <a:off x="1600200" y="23774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训练策略与技巧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26517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SGD+余弦退火 · 强数据增强 · EMA · 混合精度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01752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417320" y="3090672"/>
            <a:ext cx="27432" cy="36576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9" name="Text 17"/>
          <p:cNvSpPr/>
          <p:nvPr/>
        </p:nvSpPr>
        <p:spPr>
          <a:xfrm>
            <a:off x="1600200" y="3017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实验结果与分析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32918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训练曲线 · 验证集指标 · Kaggle 测试集 · 混淆矩阵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65760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417320" y="3730752"/>
            <a:ext cx="27432" cy="36576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23" name="Text 21"/>
          <p:cNvSpPr/>
          <p:nvPr/>
        </p:nvSpPr>
        <p:spPr>
          <a:xfrm>
            <a:off x="1600200" y="3657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工程化与部署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00200" y="39319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资源消耗 · Gradio 前端 · 推理服务层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29768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417320" y="4370832"/>
            <a:ext cx="27432" cy="36576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27" name="Text 25"/>
          <p:cNvSpPr/>
          <p:nvPr/>
        </p:nvSpPr>
        <p:spPr>
          <a:xfrm>
            <a:off x="1600200" y="4297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消融实验与总结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0200" y="45720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Zero-Init · EMA 效果 · 踩坑记录 · 未来展望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130" y="365760"/>
            <a:ext cx="54864" cy="64008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1005840" y="27432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项目总览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10515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029200" y="1684655"/>
            <a:ext cx="1828800" cy="1005840"/>
          </a:xfrm>
          <a:prstGeom prst="rect">
            <a:avLst/>
          </a:prstGeom>
          <a:solidFill>
            <a:srgbClr val="1E3A5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5166360" y="1776095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任务类型</a:t>
            </a:r>
            <a:endParaRPr lang="en-US" sz="9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5166360" y="2004695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猫狗二分类</a:t>
            </a:r>
            <a:endParaRPr lang="en-US" sz="18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5166360" y="2370455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Binary Classification</a:t>
            </a:r>
            <a:endParaRPr lang="en-US" sz="90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7040880" y="1684655"/>
            <a:ext cx="1828800" cy="1005840"/>
          </a:xfrm>
          <a:prstGeom prst="rect">
            <a:avLst/>
          </a:prstGeom>
          <a:solidFill>
            <a:srgbClr val="1E3A5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7178040" y="1776095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数据集</a:t>
            </a:r>
            <a:endParaRPr lang="en-US" sz="900" dirty="0"/>
          </a:p>
        </p:txBody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7178040" y="2004695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25,000 张</a:t>
            </a:r>
            <a:endParaRPr lang="en-US" sz="1800" dirty="0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7178040" y="2370455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Kaggle Dogs vs. Cats</a:t>
            </a:r>
            <a:endParaRPr lang="en-US" sz="900" dirty="0"/>
          </a:p>
        </p:txBody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5029200" y="2873375"/>
            <a:ext cx="1828800" cy="1005840"/>
          </a:xfrm>
          <a:prstGeom prst="rect">
            <a:avLst/>
          </a:prstGeom>
          <a:solidFill>
            <a:srgbClr val="1E3A5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5166360" y="2964815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</a:t>
            </a:r>
            <a:endParaRPr lang="en-US" sz="900" dirty="0"/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5166360" y="3193415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PyTorch 2.x</a:t>
            </a:r>
            <a:endParaRPr lang="en-US" sz="180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5166360" y="3559175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CUDA 12.1 · RTX 3080Ti</a:t>
            </a:r>
            <a:endParaRPr lang="en-US" sz="90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7040880" y="2873375"/>
            <a:ext cx="1828800" cy="1005840"/>
          </a:xfrm>
          <a:prstGeom prst="rect">
            <a:avLst/>
          </a:prstGeom>
          <a:solidFill>
            <a:srgbClr val="1E3A5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7178040" y="2964815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核心模型</a:t>
            </a:r>
            <a:endParaRPr lang="en-US" sz="900" dirty="0"/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7178040" y="3193415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SE-ResNet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7178040" y="3559175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18层 &amp; 34层 · 从头训练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1416685"/>
            <a:ext cx="3931920" cy="3338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本项目构建了一套完整的猫狗图像分类系统，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基于自定义 SE-ResNet 架构从零训练，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不依赖 ImageNet 预训练权重。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SE 通道注意力机制 — 自动学习通道重要性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随机深度（DropPath）— 隐式深度集成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Zero-Init 残差 — 稳定深度网络训练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强数据增强 — RandAugment + Mixup + CutMix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SE-ResNet34 验证精度 98.56%，Kaggle 测试 LogLoss 0.1308。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数据集探索性分析 (EDA)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DATASET EXPLORATORY DATA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920240" cy="731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6868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25,000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总图片数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868680"/>
            <a:ext cx="1884045" cy="731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86868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51760" y="13716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损坏图片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73295" y="868680"/>
            <a:ext cx="2082800" cy="731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295" y="868680"/>
            <a:ext cx="208470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JPEG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846320" y="13716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图片格式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13270" y="868680"/>
            <a:ext cx="1847850" cy="731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86868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: 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040880" y="13716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猫狗比例</a:t>
            </a:r>
            <a:endParaRPr lang="en-US" sz="1100" dirty="0"/>
          </a:p>
        </p:txBody>
      </p:sp>
      <p:pic>
        <p:nvPicPr>
          <p:cNvPr id="17" name="Image 0" descr="report/eda_visualization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828800"/>
            <a:ext cx="3931920" cy="29260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754880" y="1828800"/>
            <a:ext cx="402336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CN" altLang="en-US" sz="1600" b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数据特点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类别完全均衡 (cat=12,500, dog=12,500)，无需重采样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图片尺寸差异大：最小 42×32px，最大 1050×768px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均值 404×361px，中位数 447×374px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零损坏文件，100% JPEG 格式，可直接加载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预处理决策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统一 Resize → 224×224（适配模型输入）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ImageNet 归一化 (mean/std 与预训练一致)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强增强策略防止从头训练过拟合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数据划分与增强策略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DATA SPLIT &amp; AUGMENTATION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937760" cy="5029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6" name="Text 4"/>
          <p:cNvSpPr/>
          <p:nvPr/>
        </p:nvSpPr>
        <p:spPr>
          <a:xfrm>
            <a:off x="457200" y="100584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训练集 60%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22,500 张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40680" y="1005840"/>
            <a:ext cx="548640" cy="50292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9" name="Text 7"/>
          <p:cNvSpPr/>
          <p:nvPr/>
        </p:nvSpPr>
        <p:spPr>
          <a:xfrm>
            <a:off x="5440680" y="100584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验证集 6.7%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40680" y="15544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2,500 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743200" cy="50292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12" name="Text 10"/>
          <p:cNvSpPr/>
          <p:nvPr/>
        </p:nvSpPr>
        <p:spPr>
          <a:xfrm>
            <a:off x="6035040" y="100584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测试集 33.3%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1554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12,500 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0574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强增强策略（从头训练）</a:t>
            </a:r>
            <a:endParaRPr lang="en-US" sz="1400" dirty="0"/>
          </a:p>
        </p:txBody>
      </p:sp>
      <p:sp>
        <p:nvSpPr>
          <p:cNvPr id="15" name="Shape 13"/>
          <p:cNvSpPr/>
          <p:nvPr>
            <p:custDataLst>
              <p:tags r:id="rId1"/>
            </p:custDataLst>
          </p:nvPr>
        </p:nvSpPr>
        <p:spPr>
          <a:xfrm>
            <a:off x="457200" y="2468880"/>
            <a:ext cx="54864" cy="4572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6" name="Text 14"/>
          <p:cNvSpPr/>
          <p:nvPr>
            <p:custDataLst>
              <p:tags r:id="rId2"/>
            </p:custDataLst>
          </p:nvPr>
        </p:nvSpPr>
        <p:spPr>
          <a:xfrm>
            <a:off x="685800" y="24688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RandAugment</a:t>
            </a:r>
            <a:endParaRPr lang="en-US" sz="1200" dirty="0"/>
          </a:p>
        </p:txBody>
      </p:sp>
      <p:sp>
        <p:nvSpPr>
          <p:cNvPr id="17" name="Text 15"/>
          <p:cNvSpPr/>
          <p:nvPr>
            <p:custDataLst>
              <p:tags r:id="rId3"/>
            </p:custDataLst>
          </p:nvPr>
        </p:nvSpPr>
        <p:spPr>
          <a:xfrm>
            <a:off x="2103120" y="24688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N=2, M=9</a:t>
            </a:r>
            <a:endParaRPr lang="en-US" sz="1100" dirty="0"/>
          </a:p>
        </p:txBody>
      </p:sp>
      <p:sp>
        <p:nvSpPr>
          <p:cNvPr id="18" name="Text 16"/>
          <p:cNvSpPr/>
          <p:nvPr>
            <p:custDataLst>
              <p:tags r:id="rId4"/>
            </p:custDataLst>
          </p:nvPr>
        </p:nvSpPr>
        <p:spPr>
          <a:xfrm>
            <a:off x="685800" y="26974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自动搜索最优增强组合</a:t>
            </a:r>
            <a:endParaRPr lang="en-US" sz="1000" dirty="0"/>
          </a:p>
        </p:txBody>
      </p:sp>
      <p:sp>
        <p:nvSpPr>
          <p:cNvPr id="19" name="Shape 17"/>
          <p:cNvSpPr/>
          <p:nvPr>
            <p:custDataLst>
              <p:tags r:id="rId5"/>
            </p:custDataLst>
          </p:nvPr>
        </p:nvSpPr>
        <p:spPr>
          <a:xfrm>
            <a:off x="457200" y="3063240"/>
            <a:ext cx="54864" cy="4572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0" name="Text 18"/>
          <p:cNvSpPr/>
          <p:nvPr>
            <p:custDataLst>
              <p:tags r:id="rId6"/>
            </p:custDataLst>
          </p:nvPr>
        </p:nvSpPr>
        <p:spPr>
          <a:xfrm>
            <a:off x="685800" y="306324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Mixup</a:t>
            </a:r>
            <a:endParaRPr lang="en-US" sz="1200" dirty="0"/>
          </a:p>
        </p:txBody>
      </p:sp>
      <p:sp>
        <p:nvSpPr>
          <p:cNvPr id="21" name="Text 19"/>
          <p:cNvSpPr/>
          <p:nvPr>
            <p:custDataLst>
              <p:tags r:id="rId7"/>
            </p:custDataLst>
          </p:nvPr>
        </p:nvSpPr>
        <p:spPr>
          <a:xfrm>
            <a:off x="2103120" y="306324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α=0.2</a:t>
            </a:r>
            <a:endParaRPr lang="en-US" sz="1100" dirty="0"/>
          </a:p>
        </p:txBody>
      </p:sp>
      <p:sp>
        <p:nvSpPr>
          <p:cNvPr id="22" name="Text 20"/>
          <p:cNvSpPr/>
          <p:nvPr>
            <p:custDataLst>
              <p:tags r:id="rId8"/>
            </p:custDataLst>
          </p:nvPr>
        </p:nvSpPr>
        <p:spPr>
          <a:xfrm>
            <a:off x="685800" y="32918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图片线性混合，标签平滑</a:t>
            </a:r>
            <a:endParaRPr lang="en-US" sz="1000" dirty="0"/>
          </a:p>
        </p:txBody>
      </p:sp>
      <p:sp>
        <p:nvSpPr>
          <p:cNvPr id="23" name="Shape 21"/>
          <p:cNvSpPr/>
          <p:nvPr>
            <p:custDataLst>
              <p:tags r:id="rId9"/>
            </p:custDataLst>
          </p:nvPr>
        </p:nvSpPr>
        <p:spPr>
          <a:xfrm>
            <a:off x="457200" y="3657600"/>
            <a:ext cx="54864" cy="4572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4" name="Text 22"/>
          <p:cNvSpPr/>
          <p:nvPr>
            <p:custDataLst>
              <p:tags r:id="rId10"/>
            </p:custDataLst>
          </p:nvPr>
        </p:nvSpPr>
        <p:spPr>
          <a:xfrm>
            <a:off x="685800" y="36576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CutMix</a:t>
            </a:r>
            <a:endParaRPr lang="en-US" sz="1200" dirty="0"/>
          </a:p>
        </p:txBody>
      </p:sp>
      <p:sp>
        <p:nvSpPr>
          <p:cNvPr id="25" name="Text 23"/>
          <p:cNvSpPr/>
          <p:nvPr>
            <p:custDataLst>
              <p:tags r:id="rId11"/>
            </p:custDataLst>
          </p:nvPr>
        </p:nvSpPr>
        <p:spPr>
          <a:xfrm>
            <a:off x="2103120" y="36576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α=1.0</a:t>
            </a:r>
            <a:endParaRPr lang="en-US" sz="1100" dirty="0"/>
          </a:p>
        </p:txBody>
      </p:sp>
      <p:sp>
        <p:nvSpPr>
          <p:cNvPr id="26" name="Text 24"/>
          <p:cNvSpPr/>
          <p:nvPr>
            <p:custDataLst>
              <p:tags r:id="rId12"/>
            </p:custDataLst>
          </p:nvPr>
        </p:nvSpPr>
        <p:spPr>
          <a:xfrm>
            <a:off x="685800" y="38862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区域替换，标签按面积混合</a:t>
            </a:r>
            <a:endParaRPr lang="en-US" sz="1000" dirty="0"/>
          </a:p>
        </p:txBody>
      </p:sp>
      <p:sp>
        <p:nvSpPr>
          <p:cNvPr id="27" name="Shape 25"/>
          <p:cNvSpPr/>
          <p:nvPr>
            <p:custDataLst>
              <p:tags r:id="rId13"/>
            </p:custDataLst>
          </p:nvPr>
        </p:nvSpPr>
        <p:spPr>
          <a:xfrm>
            <a:off x="457200" y="4251960"/>
            <a:ext cx="54864" cy="4572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8" name="Text 26"/>
          <p:cNvSpPr/>
          <p:nvPr>
            <p:custDataLst>
              <p:tags r:id="rId14"/>
            </p:custDataLst>
          </p:nvPr>
        </p:nvSpPr>
        <p:spPr>
          <a:xfrm>
            <a:off x="685800" y="42519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RandomErasing</a:t>
            </a:r>
            <a:endParaRPr lang="en-US" sz="1200" dirty="0"/>
          </a:p>
        </p:txBody>
      </p:sp>
      <p:sp>
        <p:nvSpPr>
          <p:cNvPr id="29" name="Text 27"/>
          <p:cNvSpPr/>
          <p:nvPr>
            <p:custDataLst>
              <p:tags r:id="rId15"/>
            </p:custDataLst>
          </p:nvPr>
        </p:nvSpPr>
        <p:spPr>
          <a:xfrm>
            <a:off x="2103120" y="4251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p=0.2</a:t>
            </a:r>
            <a:endParaRPr lang="en-US" sz="1100" dirty="0"/>
          </a:p>
        </p:txBody>
      </p:sp>
      <p:sp>
        <p:nvSpPr>
          <p:cNvPr id="30" name="Text 28"/>
          <p:cNvSpPr/>
          <p:nvPr>
            <p:custDataLst>
              <p:tags r:id="rId16"/>
            </p:custDataLst>
          </p:nvPr>
        </p:nvSpPr>
        <p:spPr>
          <a:xfrm>
            <a:off x="685800" y="44805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随机遮挡，强制全局特征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0574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基础变换（所有模型共用）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0" y="2468880"/>
            <a:ext cx="393192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Resize → 224×224 统一尺寸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RandomHorizontalFlip (p=0.5)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RandomResizedCrop (scale=0.6~1.0)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ColorJitter (±0.2, brightness/contrast/saturation)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ImageNet Normalization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SE-ResNet 整体架构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SQUEEZE-AND-EXCITATION RESIDUAL NETWORK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4864" cy="5486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6" name="Text 4"/>
          <p:cNvSpPr/>
          <p:nvPr/>
        </p:nvSpPr>
        <p:spPr>
          <a:xfrm>
            <a:off x="685800" y="9601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96012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7×7 Conv(s=2) + 3×3 MaxPool(s=2)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3×224×224 → 64×56×56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54864" cy="54864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0" name="Text 8"/>
          <p:cNvSpPr/>
          <p:nvPr/>
        </p:nvSpPr>
        <p:spPr>
          <a:xfrm>
            <a:off x="685800" y="161848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Stage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5920" y="161848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SEBasicBlock ×2, channels 64→64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89280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64×56×56 → 64×56×56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54864" cy="54864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4" name="Text 12"/>
          <p:cNvSpPr/>
          <p:nvPr/>
        </p:nvSpPr>
        <p:spPr>
          <a:xfrm>
            <a:off x="685800" y="2276856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Stage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2276856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SEBasicBlock ×2, channels 64→128, /2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255117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64×56×56 → 128×28×28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935224"/>
            <a:ext cx="54864" cy="548640"/>
          </a:xfrm>
          <a:prstGeom prst="rect">
            <a:avLst/>
          </a:prstGeom>
          <a:solidFill>
            <a:srgbClr val="0E7490"/>
          </a:solidFill>
        </p:spPr>
      </p:sp>
      <p:sp>
        <p:nvSpPr>
          <p:cNvPr id="18" name="Text 16"/>
          <p:cNvSpPr/>
          <p:nvPr/>
        </p:nvSpPr>
        <p:spPr>
          <a:xfrm>
            <a:off x="685800" y="293522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Stage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45920" y="293522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SEBasicBlock ×2, channels 128→256, /2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209544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128×28×28 → 256×14×14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593592"/>
            <a:ext cx="54864" cy="548640"/>
          </a:xfrm>
          <a:prstGeom prst="rect">
            <a:avLst/>
          </a:prstGeom>
          <a:solidFill>
            <a:srgbClr val="155E75"/>
          </a:solidFill>
        </p:spPr>
      </p:sp>
      <p:sp>
        <p:nvSpPr>
          <p:cNvPr id="22" name="Text 20"/>
          <p:cNvSpPr/>
          <p:nvPr/>
        </p:nvSpPr>
        <p:spPr>
          <a:xfrm>
            <a:off x="685800" y="359359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Stage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45920" y="359359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SEBasicBlock ×2, channels 256→512, /2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386791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256×14×14 → 512×7×7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54864" cy="5486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6" name="Text 24"/>
          <p:cNvSpPr/>
          <p:nvPr/>
        </p:nvSpPr>
        <p:spPr>
          <a:xfrm>
            <a:off x="685800" y="42519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Head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45920" y="4251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AdaptiveAvgPool → Dropout(0.2) → FC(512,2)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45262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512×7×7 → logits (2,)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96012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核心设计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29200" y="1417320"/>
            <a:ext cx="3840480" cy="7772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166360" y="146304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 通道注意力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16916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Squeeze(全局池化)→Excitation(FC+ReLU+FC+Sigmoid)→Scale(逐通道加权)。自动学习 512 个通道的重要性权重。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2331720"/>
            <a:ext cx="3840480" cy="7772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166360" y="237744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随机深度 (DropPath)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66360" y="26060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训练时以概率 p 随机丢弃整个残差分支。p 从 0 线性增至 0.05（浅层保留、深层增强），起到隐式深度集成作用。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3246120"/>
            <a:ext cx="3840480" cy="7772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166360" y="329184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Zero-Init 残差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66360" y="35204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将每个 SEBasicBlock 第二个 BN 的 γ 初始化为 0。训练初期退化为浅层网络，逐步释放深度能力，训练更稳定。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0" y="4160520"/>
            <a:ext cx="3840480" cy="7772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166360" y="420624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Kaiming 初始化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66360" y="44348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 ReLU 激活定制卷积层初始化，保证前向/反向传播方差稳定，适配从头训练。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SEBasicBlock 与通道注意力机制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 BASIC BLOCK &amp; CHANNEL ATTENTION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280160" cy="5943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" name="Text 4"/>
          <p:cNvSpPr/>
          <p:nvPr/>
        </p:nvSpPr>
        <p:spPr>
          <a:xfrm>
            <a:off x="457200" y="100584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Conv 3×3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BN → ReLU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37360" y="1005840"/>
            <a:ext cx="274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011680" y="1005840"/>
            <a:ext cx="1280160" cy="5943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" name="Text 8"/>
          <p:cNvSpPr/>
          <p:nvPr/>
        </p:nvSpPr>
        <p:spPr>
          <a:xfrm>
            <a:off x="2011680" y="100584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Conv 3×3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132588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1005840"/>
            <a:ext cx="274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66160" y="1005840"/>
            <a:ext cx="1280160" cy="59436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4" name="Text 12"/>
          <p:cNvSpPr/>
          <p:nvPr/>
        </p:nvSpPr>
        <p:spPr>
          <a:xfrm>
            <a:off x="3566160" y="100584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 Block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132588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通道注意力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005840"/>
            <a:ext cx="274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20640" y="1005840"/>
            <a:ext cx="1280160" cy="5943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8" name="Text 16"/>
          <p:cNvSpPr/>
          <p:nvPr/>
        </p:nvSpPr>
        <p:spPr>
          <a:xfrm>
            <a:off x="5120640" y="100584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DropPath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132588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随机深度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1737360"/>
            <a:ext cx="62179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" y="169164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残差连接 (identity shortcut) —— 当维度不匹配时通过 1×1 Conv 对齐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1031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 Block 工作原理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2514600"/>
            <a:ext cx="192024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514600"/>
            <a:ext cx="1920240" cy="36576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25" name="Text 23"/>
          <p:cNvSpPr/>
          <p:nvPr/>
        </p:nvSpPr>
        <p:spPr>
          <a:xfrm>
            <a:off x="594360" y="26517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Squeeze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297180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全局平均池化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(H×W) → (1×1)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压缩空间信息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0" y="2514600"/>
            <a:ext cx="192024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0" y="2514600"/>
            <a:ext cx="192024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9" name="Text 27"/>
          <p:cNvSpPr/>
          <p:nvPr/>
        </p:nvSpPr>
        <p:spPr>
          <a:xfrm>
            <a:off x="2697480" y="26517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FC + ReLU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97480" y="297180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 → C/16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降维 16 倍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瓶颈结构降计算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514600"/>
            <a:ext cx="192024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514600"/>
            <a:ext cx="1920240" cy="36576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3" name="Text 31"/>
          <p:cNvSpPr/>
          <p:nvPr/>
        </p:nvSpPr>
        <p:spPr>
          <a:xfrm>
            <a:off x="4800600" y="26517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FC + Sigmoid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297180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C/16 → 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恢复维度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 (0,1) 权重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66560" y="2514600"/>
            <a:ext cx="1920240" cy="13716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66560" y="2514600"/>
            <a:ext cx="1920240" cy="36576"/>
          </a:xfrm>
          <a:prstGeom prst="rect">
            <a:avLst/>
          </a:prstGeom>
          <a:solidFill>
            <a:srgbClr val="0E7490"/>
          </a:solidFill>
        </p:spPr>
      </p:sp>
      <p:sp>
        <p:nvSpPr>
          <p:cNvPr id="37" name="Text 35"/>
          <p:cNvSpPr/>
          <p:nvPr/>
        </p:nvSpPr>
        <p:spPr>
          <a:xfrm>
            <a:off x="6903720" y="26517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Scale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03720" y="297180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逐通道加权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原始特征 × 权重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增强有用特征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 模块参数量仅约 0.3M（reduction=16），几乎不增加推理开销，但能稳定提升 0.5~1% 精度。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SE-ResNet18 vs SE-ResNet34 结构对比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MODEL ARCHITECTURE COMPARISON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914400"/>
          <a:ext cx="8229600" cy="384048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83464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SE-ResNet18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SE-ResNet34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Stage 配置 (layers)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(2, 2, 2, 2)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(3, 4, 6, 3)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总 Block 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 个 SEBasicBlock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16 个 SEBasicBlock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起始通道数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通道倍增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64→128→256→512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64→128→256→512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参数量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~11.7M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~21.3M (+82%)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FP16 权重体积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21.6 MB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41.0 MB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训练 GPU 显存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~4.4 GB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~6.1 GB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EMA Decay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0.995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实际停止 Epoch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Epoch 59 (EarlyStop)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Epoch 79 (EarlyStop)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两模型共享相同的训练管线（train_scratch.py）、数据增强策略和优化器配置，仅在 layers 深度和 EMA decay 上有差异。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优化器与学习率调度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OPTIMIZER &amp; LEARNING RATE SCHEDULE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优化器配置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算法：SGD + Momentum(0.9) + Nesterov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Base LR：0.2（batch=256 线性缩放）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Min LR：1e-5（余弦退火终点）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Weight Decay：5e-4（L2 正则化）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0058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为什么用 SGD 而非 Adam？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从头训练 CNN 时，SGD + momentum + cosine 退火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通常收敛到更优的局部最小值，最终泛化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精度高于自适应优化器。这是 CV 领域大量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实验的经验共识。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参考："Accurate, Large Minibatch SGD" 论文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的线性缩放法则：BASE_LR = 0.05 × (B/64)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学习率调度：Warmup + Cosine Annealing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731520" cy="1188720"/>
          </a:xfrm>
          <a:prstGeom prst="rect">
            <a:avLst/>
          </a:prstGeom>
          <a:solidFill>
            <a:srgbClr val="F59E0B">
              <a:alpha val="8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731520" y="3474720"/>
            <a:ext cx="731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Warmup</a:t>
            </a:r>
            <a:endParaRPr lang="en-US" sz="900" b="1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epochs</a:t>
            </a:r>
            <a:endParaRPr lang="en-US" sz="9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463040" y="3474720"/>
            <a:ext cx="6217920" cy="1188720"/>
          </a:xfrm>
          <a:prstGeom prst="rect">
            <a:avLst/>
          </a:prstGeom>
          <a:solidFill>
            <a:srgbClr val="0891B2">
              <a:alpha val="15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1463040" y="3474720"/>
            <a:ext cx="62179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Cosine Annealing: BASE_LR → MIN_LR (87 epochs)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" y="33832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" y="452628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1e-5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正则化技术全家桶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REGULARIZATION TECHNIQUES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109728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7" name="Text 5"/>
          <p:cNvSpPr/>
          <p:nvPr/>
        </p:nvSpPr>
        <p:spPr>
          <a:xfrm>
            <a:off x="640080" y="98755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Label Smoothing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98755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ε = 0.1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298448"/>
            <a:ext cx="3611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 one-hot 标签 [1.0, 0.0] 平滑为 [0.95, 0.05]，防止模型过度自信，提升泛化能力。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02336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54864" cy="109728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2" name="Text 10"/>
          <p:cNvSpPr/>
          <p:nvPr/>
        </p:nvSpPr>
        <p:spPr>
          <a:xfrm>
            <a:off x="4937760" y="98755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Dropout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0" y="98755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 = 0.2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298448"/>
            <a:ext cx="3611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分类头前随机丢弃 20% 特征，强制网络学习冗余表示，防止共适应。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402336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148840"/>
            <a:ext cx="54864" cy="109728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7" name="Text 15"/>
          <p:cNvSpPr/>
          <p:nvPr/>
        </p:nvSpPr>
        <p:spPr>
          <a:xfrm>
            <a:off x="640080" y="222199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DropPath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222199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→ 0.05 线性递增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2532888"/>
            <a:ext cx="3611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沿网络深度从 0% 线性增至 5% 丢弃概率。浅层保留低级特征，深层强制路径多样性 → 隐式深度集成。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148840"/>
            <a:ext cx="402336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148840"/>
            <a:ext cx="54864" cy="109728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2" name="Text 20"/>
          <p:cNvSpPr/>
          <p:nvPr/>
        </p:nvSpPr>
        <p:spPr>
          <a:xfrm>
            <a:off x="4937760" y="222199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34200" y="2221865"/>
            <a:ext cx="1661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decay = 0.99 / 0.995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532888"/>
            <a:ext cx="3611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指数滑动平均维护模型参数的平滑版本。推理时 EMA 模型通常比 Raw 模型精度更高、更稳定。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402336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383280"/>
            <a:ext cx="54864" cy="109728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7" name="Text 25"/>
          <p:cNvSpPr/>
          <p:nvPr/>
        </p:nvSpPr>
        <p:spPr>
          <a:xfrm>
            <a:off x="640080" y="345643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Weight Decay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743200" y="345643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5e-4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3767328"/>
            <a:ext cx="3611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 正则化等价约束，防止权重幅值过大。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383280"/>
            <a:ext cx="402336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383280"/>
            <a:ext cx="54864" cy="109728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2" name="Text 30"/>
          <p:cNvSpPr/>
          <p:nvPr/>
        </p:nvSpPr>
        <p:spPr>
          <a:xfrm>
            <a:off x="4937760" y="345643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Early Stopping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345643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patience = 15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3767328"/>
            <a:ext cx="3611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验证精度连续 15 epoch 不提升则终止训练，防止过拟合，自动选择最佳 epoch。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训练加速与过程监控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TRAINING ACCELERATION &amp; MONITORING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加速技术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594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7160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AMP 混合精度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前向/反向在 FP16 和 FP32 间自动切换，显存减半，速度提升 30-50%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3931920" cy="594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05740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TF32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RTX 30 系列 Tensor Core 原生支持，matmul/卷积约 2× 加速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3931920" cy="594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74320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torch.compile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9718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PyTorch 2.0 JIT 编译 + kernel fusion，额外 10-30% 提速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3931920" cy="594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42900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channels_last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NHWC 内存格式优化 Tensor Core 访存，额外 5-10% 加速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监控与保存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54880" y="1325880"/>
            <a:ext cx="3931920" cy="2743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463040"/>
            <a:ext cx="3566160" cy="2468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TensorBoard 实时记录 Loss/Accuracy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每 epoch 记录 Train / Val(raw) / Val(EMA) 三组指标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best_model.pth：保存最高验证精度模型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（同时包含 raw 和 EMA 两种权重）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resume.pth：每轮保存最新断点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（含 model + optimizer + scheduler + scaler）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--resume 参数支持无缝断点续训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硬件环境：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GPU: RTX 3080Ti 12GB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CPU Workers: 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18 层训练显存 ~4.4GB / 34 层 ~6.1GB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SE-ResNet18 训练曲线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TRAINING CURVES — SE-ResNet18</a:t>
            </a:r>
            <a:endParaRPr lang="en-US" sz="1100" dirty="0"/>
          </a:p>
        </p:txBody>
      </p:sp>
      <p:pic>
        <p:nvPicPr>
          <p:cNvPr id="5" name="Image 0" descr="report/training_curves_18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868680"/>
            <a:ext cx="82296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20624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训练在 Epoch 59 触发 EarlyStopping 自动终止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EMA 模型（绿线）验证精度全程优于 Raw 模型（红虚线），EMA 平滑效果显著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训练 Loss 持续下降，验证 Loss 在后期趋于平稳，未出现过拟合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最终 EMA 验证精度 97.48%, F1-Score 97.45%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SE-ResNet34 训练曲线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TRAINING CURVES — SE-ResNet34</a:t>
            </a:r>
            <a:endParaRPr lang="en-US" sz="1100" dirty="0"/>
          </a:p>
        </p:txBody>
      </p:sp>
      <p:pic>
        <p:nvPicPr>
          <p:cNvPr id="5" name="Image 0" descr="report/training_curves_34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868680"/>
            <a:ext cx="82296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20624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训练在 Epoch 79 触发 EarlyStopping 自动终止（Patience=15）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更深网络（16 blocks vs 8 blocks）需要更多 epoch 收敛，但最终精度更高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EMA 模型（绿线）</a:t>
            </a:r>
            <a:r>
              <a:rPr lang="zh-CN" alt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后期</a:t>
            </a: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优于 Raw 模型，EMA Decay 从 0.99 上调至 0.995 适配更多步数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最终 EMA 验证精度 98.56%, F1-Score 98.55%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 验证精度叠加对比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EMA VALIDATION ACCURACY — 18 vs 34</a:t>
            </a:r>
            <a:endParaRPr lang="en-US" sz="1100" dirty="0"/>
          </a:p>
        </p:txBody>
      </p:sp>
      <p:pic>
        <p:nvPicPr>
          <p:cNvPr id="5" name="Image 0" descr="report/training_curves_combin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868680"/>
            <a:ext cx="82296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20624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SE-ResNet34（橙线）</a:t>
            </a:r>
            <a:r>
              <a:rPr lang="zh-CN" alt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后期</a:t>
            </a: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优于 SE-ResNet18（蓝线）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两模型收敛模式相似：前期快速提升 → 中期波动 → 后期平稳微涨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34 层模型的额外深度带来约 1.1% 的精度增益（98.56% vs 97.48%）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代价：参数量增加 82%，训练</a:t>
            </a:r>
            <a:r>
              <a:rPr lang="zh-CN" altLang="en-US" sz="11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轮数</a:t>
            </a:r>
            <a:r>
              <a:rPr lang="en-US" sz="11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延长约 33%（59 → 79 epochs）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验证集性能对比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VALIDATION PERFORMANCE COMPARISON</a:t>
            </a:r>
            <a:endParaRPr lang="en-US" sz="1100" dirty="0"/>
          </a:p>
        </p:txBody>
      </p:sp>
      <p:pic>
        <p:nvPicPr>
          <p:cNvPr id="5" name="Image 0" descr="report/model_comparison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914400"/>
            <a:ext cx="50292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0" y="10058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详细指标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5760720" y="1463040"/>
          <a:ext cx="3017520" cy="201168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SE-ResNet18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SE-ResNet34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97.48%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</a:rPr>
                        <a:t>98.56%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97.81%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</a:rPr>
                        <a:t>98.63%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97.10%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</a:rPr>
                        <a:t>98.47%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F1-Score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97.45%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</a:rPr>
                        <a:t>98.55%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760720" y="3269615"/>
            <a:ext cx="3017520" cy="953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34 层相比 18 层全指标提升约 1.1%，额外参数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量 ~9.6M（+82%），推理速度略有下降但仍在可接受范围。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Kaggle 官方测试集评估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KAGGLE TEST SET — LOG LOSS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多类别对数损失 (Log Loss)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LogLoss = −1/n Σ [yᵢ ln(ŷᵢ) + (1−yᵢ) ln(1−ŷᵢ)]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12,500 张测试图片，提交格式为 (id, 预测为 dog 的概率) CSV。LogLoss 越小越好，惩罚过度自信的错误预测。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457200" y="2011680"/>
          <a:ext cx="5029200" cy="13716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280160"/>
                <a:gridCol w="109728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FP32 LogLoss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FP16 LogLoss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SE-ResNet18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0.14455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0.14457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+0.00002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SE-ResNet34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</a:rPr>
                        <a:t>0.13076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</a:rPr>
                        <a:t>0.13076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760720" y="914400"/>
            <a:ext cx="3017520" cy="3383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10515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关键结论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0" y="1417320"/>
            <a:ext cx="265176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FP16 精度损失可忽略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差异在 10⁻⁵ 量级，12,500 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测试集上预测几乎逐样本一致。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FP16 部署优势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权重体积减半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(21.6MB / 41.0MB)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GPU 显存减半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推理速度提升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强烈推荐部署时使用 FP16 权重。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56616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A5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SE-ResNet18  ██████████████████████████  0.14455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704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SE-ResNet34    ██████████████████▌  0.13076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29768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← LogLoss 越低越好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混淆矩阵分析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CONFUSION MATRIX ANALYSIS</a:t>
            </a:r>
            <a:endParaRPr lang="en-US" sz="1100" dirty="0"/>
          </a:p>
        </p:txBody>
      </p:sp>
      <p:pic>
        <p:nvPicPr>
          <p:cNvPr id="5" name="Image 0" descr="report/confusion_matrix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914400"/>
            <a:ext cx="457200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0" y="10058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误分类分析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03520" y="1371600"/>
            <a:ext cx="3474720" cy="1284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SE-ResNet18 (验证集 2,500 张)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猫 → 狗误判：23 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狗 → 猫误判：33 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误分类总数 56 张（2.24%）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混淆矩阵分析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CONFUSION MATRIX ANALYSIS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303520" y="10058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误分类分析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03520" y="1371600"/>
            <a:ext cx="3474720" cy="1704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SE-ResNet34 (验证集 2,500 张)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猫 → 狗误判：17 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狗 → 猫误判：13 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误分类总数 30 张（1.2%）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两模型均无明显类别偏向，猫狗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误判率基本对称。34 层模型的误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分类数量约为 18 层的 54%。</a:t>
            </a:r>
            <a:endParaRPr lang="en-US" sz="1100" dirty="0"/>
          </a:p>
        </p:txBody>
      </p:sp>
      <p:pic>
        <p:nvPicPr>
          <p:cNvPr id="8" name="图片 7" descr="confusion_matrix_scratc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585" y="892810"/>
            <a:ext cx="4543425" cy="35636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资源消耗对比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RESOURCE CONSUMPTION COMPARISON</a:t>
            </a:r>
            <a:endParaRPr lang="en-US" sz="1100" dirty="0"/>
          </a:p>
        </p:txBody>
      </p:sp>
      <p:pic>
        <p:nvPicPr>
          <p:cNvPr id="5" name="Image 0" descr="report/resource_comparison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914400"/>
            <a:ext cx="822960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参数量：SE-ResNet34 (21.3M) 是 SE-ResNet18 (11.7M) 的 1.82 倍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GPU 显存：34 层 (6.1GB) 比 18 层 (4.4GB) 多 39%，两模型均可在 RTX 3080Ti (12GB) 上训练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训练时间：34 层约 40 分钟，18 层约 35 分钟（单卡 RTX 3080Ti）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前端界面演示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GRADIO WEB INTERFACE DEMO</a:t>
            </a:r>
            <a:endParaRPr lang="en-US" sz="1100" dirty="0"/>
          </a:p>
        </p:txBody>
      </p:sp>
      <p:pic>
        <p:nvPicPr>
          <p:cNvPr id="5" name="Image 0" descr="screenshots/cat-1-SE-RResNet18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274320" y="914400"/>
            <a:ext cx="4114800" cy="1828800"/>
          </a:xfrm>
          <a:prstGeom prst="rect">
            <a:avLst/>
          </a:prstGeom>
        </p:spPr>
      </p:pic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274320" y="274320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Cat — SE-ResNet18 预测结果</a:t>
            </a:r>
            <a:endParaRPr lang="en-US" sz="900" dirty="0"/>
          </a:p>
        </p:txBody>
      </p:sp>
      <p:pic>
        <p:nvPicPr>
          <p:cNvPr id="9" name="Image 2" descr="screenshots/cat-1-SE-RResNet34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274320" y="3017520"/>
            <a:ext cx="4114800" cy="182880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6"/>
            </p:custDataLst>
          </p:nvPr>
        </p:nvSpPr>
        <p:spPr>
          <a:xfrm>
            <a:off x="274320" y="484632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Cat — SE-ResNet34 预测结果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4712970" y="1243965"/>
            <a:ext cx="3725545" cy="1122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基于 Gradio Blocks 构建，双栏布局：左侧上传图片 + 选择模型，右侧展示预测结果与置信度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支持模型懒加载 + 缓存，多模型对比推理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底层服务层 (BaseModelService) 自动处理 FP16 权重、EMA 提取、torch.compile 前缀兼容</a:t>
            </a:r>
            <a:endParaRPr lang="en-US" sz="900" dirty="0"/>
          </a:p>
        </p:txBody>
      </p:sp>
      <p:sp>
        <p:nvSpPr>
          <p:cNvPr id="14" name="Text 7"/>
          <p:cNvSpPr/>
          <p:nvPr/>
        </p:nvSpPr>
        <p:spPr>
          <a:xfrm>
            <a:off x="4692015" y="2389505"/>
            <a:ext cx="2428240" cy="582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分类正确的条件下</a:t>
            </a:r>
            <a:r>
              <a:rPr lang="en-US" altLang="zh-CN" sz="9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9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SE-ResNet34 </a:t>
            </a:r>
            <a:r>
              <a:rPr lang="zh-CN" altLang="en-US" sz="9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给出更高置信度，比</a:t>
            </a:r>
            <a:r>
              <a:rPr lang="en-US" altLang="zh-CN" sz="9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SE-ResNet18 </a:t>
            </a:r>
            <a:r>
              <a:rPr lang="zh-CN" altLang="en-US" sz="9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高约</a:t>
            </a:r>
            <a:r>
              <a:rPr lang="en-US" altLang="zh-CN" sz="9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8%</a:t>
            </a:r>
            <a:endParaRPr lang="en-US" altLang="zh-CN" sz="900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前端界面演示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GRADIO WEB INTERFACE DEMO</a:t>
            </a:r>
            <a:endParaRPr lang="en-US" sz="1100" dirty="0"/>
          </a:p>
        </p:txBody>
      </p:sp>
      <p:sp>
        <p:nvSpPr>
          <p:cNvPr id="6" name="Text 3"/>
          <p:cNvSpPr/>
          <p:nvPr>
            <p:custDataLst>
              <p:tags r:id="rId1"/>
            </p:custDataLst>
          </p:nvPr>
        </p:nvSpPr>
        <p:spPr>
          <a:xfrm>
            <a:off x="274320" y="274320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Dog — SE-ResNet18 预测结果</a:t>
            </a:r>
            <a:endParaRPr lang="en-US" sz="900" dirty="0"/>
          </a:p>
        </p:txBody>
      </p:sp>
      <p:pic>
        <p:nvPicPr>
          <p:cNvPr id="7" name="Image 1" descr="screenshots/dog-1-SE-RResNet18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274320" y="877570"/>
            <a:ext cx="4114800" cy="182880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4"/>
            </p:custDataLst>
          </p:nvPr>
        </p:nvSpPr>
        <p:spPr>
          <a:xfrm>
            <a:off x="274320" y="484632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Dog — SE-ResNet34 预测结果</a:t>
            </a:r>
            <a:endParaRPr lang="en-US" sz="900" dirty="0"/>
          </a:p>
        </p:txBody>
      </p:sp>
      <p:pic>
        <p:nvPicPr>
          <p:cNvPr id="11" name="Image 3" descr="screenshots/dog-1-SE-RResNet34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274320" y="2994660"/>
            <a:ext cx="4114800" cy="18288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692015" y="2389505"/>
            <a:ext cx="2428240" cy="582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对狗的分类</a:t>
            </a:r>
            <a:r>
              <a:rPr lang="en-US" altLang="zh-CN" sz="9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9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SE-ResNet34 </a:t>
            </a:r>
            <a:r>
              <a:rPr lang="zh-CN" altLang="en-US" sz="9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同样给出更高置信度</a:t>
            </a:r>
            <a:endParaRPr lang="zh-CN" altLang="en-US" sz="900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工程化实践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ENGINEERING PRACTICES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1188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7" name="Text 5"/>
          <p:cNvSpPr/>
          <p:nvPr/>
        </p:nvSpPr>
        <p:spPr>
          <a:xfrm>
            <a:off x="621792" y="98755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模块化服务层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20700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[service/]  [factory.py]  [config.yaml]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792" y="141732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BaseModelService 抽象基类统一预处理、推理、后处理流程。具体模型服务仅需定义架构，通过工厂函数 factory.py 懒加载。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02336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54864" cy="1188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2" name="Text 10"/>
          <p:cNvSpPr/>
          <p:nvPr/>
        </p:nvSpPr>
        <p:spPr>
          <a:xfrm>
            <a:off x="4919472" y="98755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双配置系统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20700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[config.py]  [config_scratch.py]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19472" y="141732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config.py（全局路径/归一化） + config_scratch.py（模型深度/增强/LR 调度）。scratch 配置通过 import 继承全局常量，避免重复。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402336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240280"/>
            <a:ext cx="54864" cy="1188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7" name="Text 15"/>
          <p:cNvSpPr/>
          <p:nvPr/>
        </p:nvSpPr>
        <p:spPr>
          <a:xfrm>
            <a:off x="621792" y="231343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权重加载优先级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" y="253288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[EMA]  [FP16]  [兼容性]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1792" y="274320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EMA state_dict → ② model_state_dict → ③ 裸 checkpoint。自动 FP16 检测 + torch.compile 前缀 (_orig_mod.) 剥离，确保跨版本兼容。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402336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40280"/>
            <a:ext cx="54864" cy="1188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2" name="Text 20"/>
          <p:cNvSpPr/>
          <p:nvPr/>
        </p:nvSpPr>
        <p:spPr>
          <a:xfrm>
            <a:off x="4919472" y="231343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训练可恢复性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253288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[断点续训]  [resume.pth]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19472" y="274320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 epoch 自动保存 resume.pth（含 model+optim+scheduler+scaler 全量状态）。--resume 参数无缝恢复，包含学习率调度状态。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402336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566160"/>
            <a:ext cx="54864" cy="1188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7" name="Text 25"/>
          <p:cNvSpPr/>
          <p:nvPr/>
        </p:nvSpPr>
        <p:spPr>
          <a:xfrm>
            <a:off x="621792" y="363931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FP16 推理部署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" y="385876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[compress_weights.py]  [FP16]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1792" y="406908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compress_weights.py 自动提取 EMA 权重 + FP16 压缩，体积</a:t>
            </a:r>
            <a:r>
              <a:rPr lang="zh-CN" alt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大大减小</a:t>
            </a: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。service 层自动检测并加载 FP16 权重，对调用方透明。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402336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566160"/>
            <a:ext cx="54864" cy="1188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2" name="Text 30"/>
          <p:cNvSpPr/>
          <p:nvPr/>
        </p:nvSpPr>
        <p:spPr>
          <a:xfrm>
            <a:off x="4919472" y="363931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数据管线复用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9472" y="385876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[dataset.py]  [get_transforms]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19472" y="406908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CatDogDataset + get_dataloaders() 通过 strong=True/False 切换增强强度。一套代码同时服务从头训练（强增强）和迁移学习（弱增强）。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消融分析：Zero-Init 残差与 EMA 平滑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ABLATION STUDY — ZERO-INIT RESIDUAL &amp; EMA EFFECT</a:t>
            </a:r>
            <a:endParaRPr lang="en-US" sz="11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57200" y="914400"/>
            <a:ext cx="3931920" cy="21031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640080" y="10058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Zero-Init 残差 (Zero-γ)</a:t>
            </a:r>
            <a:endParaRPr lang="en-US" sz="14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640080" y="1371600"/>
            <a:ext cx="35661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将每个 SEBasicBlock 第二个 BN 的 γ 初始化为 0：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nn.init.constant_(m.bn2.weight, 0.0)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训练初期 F(x) ≈ 0，网络退化为恒等映射堆叠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梯度直接流过 shortcut，深层训练更稳定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随着训练进行，γ 逐渐偏离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残差分支的学习能力被逐步「释放」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最终精度通常提升 0.5~2%，训练初期震荡显著减少</a:t>
            </a:r>
            <a:endParaRPr lang="en-US" sz="1100" dirty="0"/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4754880" y="914400"/>
            <a:ext cx="3931920" cy="21031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4937760" y="10058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EMA 指数滑动平均</a:t>
            </a:r>
            <a:endParaRPr lang="en-US" sz="140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4937760" y="1371600"/>
            <a:ext cx="35661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维护训练参数的平滑版本（不参与训练）：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θ_ema = decay × θ_ema + (1−decay) × θ_train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EMA 模型验证精度</a:t>
            </a:r>
            <a:r>
              <a:rPr lang="zh-CN" alt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中后期</a:t>
            </a: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全程优于 Raw 模型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Raw 模型 epoch 间波动</a:t>
            </a:r>
            <a:r>
              <a:rPr lang="zh-CN" alt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较大</a:t>
            </a: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，EMA 平滑稳定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18 层 decay=0.99, 34 层 decay=0.995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推理默认使用 EMA 权重，精度更高</a:t>
            </a:r>
            <a:endParaRPr lang="en-US" sz="1100" dirty="0"/>
          </a:p>
        </p:txBody>
      </p:sp>
      <p:pic>
        <p:nvPicPr>
          <p:cNvPr id="11" name="Image 0" descr="report/ema_effect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371600" y="3246120"/>
            <a:ext cx="640080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踩坑记录：验证集不可复现问题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KNOWN ISSUE — VALIDATION SET REPRODUCIBILITY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6" name="Text 4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问题现象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457200" y="1371600"/>
          <a:ext cx="8229600" cy="82296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19456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训练日志 best_acc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evaluate.py 结果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差异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SE-ResNet34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98.84%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98.56%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0.72%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23774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根因分析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697480"/>
            <a:ext cx="82296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Path.iterdir() 的遍历顺序由 OS 文件系统决定，不保证跨进程一致。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虽然 randperm 使用了固定 seed，但 iterdir() 返回的文件列表顺序不同 → 相同的随机排列索引落在了不同的文件上 → train/val 划分不同。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修复方案（一行代码）：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# 修改前: file_iter = self.root_dir.iterdir()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# 修改后: file_iter = sorted(self.root_dir.iterdir(), key=lambda p: p.name)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同时固定 random.seed(RANDOM_SEED) 确保 max_samples 分支可复现。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F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教训：在 ML 项目中，所有涉及随机性的操作都必须显式固定（Python/NumPy/PyTorch/CuDNN/文件系统），缺一不可。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3716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经验总结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28346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LESSONS LEARNED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1E3A5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从头训练 ≠ 迁移学习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从头训练需要强增强（RandAugment + Mixup）+ SGD（非 Adam）+ Warmup。迁移学习的温和增强和 AdamW 不适用于 From-Scratch 场景。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051560"/>
          </a:xfrm>
          <a:prstGeom prst="rect">
            <a:avLst/>
          </a:prstGeom>
          <a:solidFill>
            <a:srgbClr val="1E3A5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17043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EMA 是小技巧大收益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444752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实现仅需 20 行代码，几乎零额外开销，但能带来 0.5~1% 的稳定精度提升，推理时完全透明。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023360" cy="1051560"/>
          </a:xfrm>
          <a:prstGeom prst="rect">
            <a:avLst/>
          </a:prstGeom>
          <a:solidFill>
            <a:srgbClr val="1E3A5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35915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固定一切随机性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633472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random / NumPy / PyTorch / CuDNN / 文件系统排序 → 全部显式固定。缺少任何一环都可能导致「玄学」差异。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286000"/>
            <a:ext cx="4023360" cy="1051560"/>
          </a:xfrm>
          <a:prstGeom prst="rect">
            <a:avLst/>
          </a:prstGeom>
          <a:solidFill>
            <a:srgbClr val="1E3A5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35915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34 层的性价比很高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633472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82% 额外参数换来 ~1.1% 精度提升，显存仍可控（6.1GB），训练时间仅多 ~15%。对于精度敏感场景是划算的升级。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4023360" cy="1051560"/>
          </a:xfrm>
          <a:prstGeom prst="rect">
            <a:avLst/>
          </a:prstGeom>
          <a:solidFill>
            <a:srgbClr val="1E3A5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54787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FP16 部署零成本收益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822192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精度损失 10⁻⁵ 量级，但权重体积和显存减半。compress_weights.py 一键转换，service 层自动兼容。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474720"/>
            <a:ext cx="4023360" cy="1051560"/>
          </a:xfrm>
          <a:prstGeom prst="rect">
            <a:avLst/>
          </a:prstGeom>
          <a:solidFill>
            <a:srgbClr val="1E3A5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354787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模块化从第一天开始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822192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服务层抽象 + 配置文件 + 独立 checkpoint 目录 → 多模型并行开发互不干扰，调试效率大幅提升。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5367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成果总结</a:t>
            </a:r>
            <a:endParaRPr lang="en-US" sz="36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57200" y="1051560"/>
            <a:ext cx="1920240" cy="914400"/>
          </a:xfrm>
          <a:prstGeom prst="rect">
            <a:avLst/>
          </a:prstGeom>
          <a:solidFill>
            <a:srgbClr val="1E3A5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457200" y="10972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98.56%</a:t>
            </a:r>
            <a:endParaRPr lang="en-US" sz="26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457200" y="155448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SE-ResNet34 验证精度</a:t>
            </a:r>
            <a:endParaRPr lang="en-US" sz="1000" dirty="0"/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2606040" y="1051560"/>
            <a:ext cx="1920240" cy="914400"/>
          </a:xfrm>
          <a:prstGeom prst="rect">
            <a:avLst/>
          </a:prstGeom>
          <a:solidFill>
            <a:srgbClr val="1E3A5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2606040" y="10972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0.1308</a:t>
            </a:r>
            <a:endParaRPr lang="en-US" sz="260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2606040" y="155448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Kaggle LogLoss</a:t>
            </a:r>
            <a:endParaRPr lang="en-US" sz="1000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4754880" y="1051560"/>
            <a:ext cx="1920240" cy="914400"/>
          </a:xfrm>
          <a:prstGeom prst="rect">
            <a:avLst/>
          </a:prstGeom>
          <a:solidFill>
            <a:srgbClr val="1E3A5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4754880" y="10972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21.3M</a:t>
            </a:r>
            <a:endParaRPr lang="en-US" sz="260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4754880" y="155448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模型参数量（34层）</a:t>
            </a:r>
            <a:endParaRPr lang="en-US" sz="1000" dirty="0"/>
          </a:p>
        </p:txBody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6903720" y="1051560"/>
            <a:ext cx="1920240" cy="914400"/>
          </a:xfrm>
          <a:prstGeom prst="rect">
            <a:avLst/>
          </a:prstGeom>
          <a:solidFill>
            <a:srgbClr val="1E3A5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6903720" y="10972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~6.1 GB</a:t>
            </a:r>
            <a:endParaRPr lang="en-US" sz="260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6903720" y="155448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训练显存占用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218690"/>
            <a:ext cx="8229600" cy="2609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本项目从零构建了一套完整的猫狗图像分类系统：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数据层：25,000 张图片，</a:t>
            </a:r>
            <a:r>
              <a:rPr lang="zh-CN" altLang="en-US" sz="12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数据分析</a:t>
            </a:r>
            <a:r>
              <a:rPr lang="en-US" sz="12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+ 强增强管线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模型层：自定义 SE-ResNet（18/34），集成 SE 注意力 + DropPath + Zero-Init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训练层：SGD + Cosine + Warmup + EMA + AMP + torch.compile 全方位的训练优化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评估层：验证集 4 指标 + Kaggle LogLoss + 混淆矩阵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工程层：服务层抽象 + Gradio 前端 + FP16 压缩 + 断点续训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SE-ResNet34 以 98.56% </a:t>
            </a:r>
            <a:r>
              <a:rPr lang="zh-CN" altLang="en-US" sz="12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r>
              <a:rPr lang="en-US" sz="12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验证精度和 0.1308 Kaggle LogLoss 证明了</a:t>
            </a:r>
            <a:r>
              <a:rPr lang="en-US" sz="1200" dirty="0">
                <a:solidFill>
                  <a:schemeClr val="accent2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从头训练 + 强增强 + 注意力机制 在中小规模数据集上的有效性和实用性。</a:t>
            </a:r>
            <a:endParaRPr lang="en-US" sz="1200" dirty="0">
              <a:solidFill>
                <a:schemeClr val="accent2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ext 1"/>
          <p:cNvSpPr/>
          <p:nvPr/>
        </p:nvSpPr>
        <p:spPr>
          <a:xfrm>
            <a:off x="731520" y="5486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未来工作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5029200" cy="26333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更大模型：SE-ResNet34-big (width=96) </a:t>
            </a:r>
            <a:r>
              <a:rPr lang="zh-CN" altLang="en-US" sz="13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验证集准确率</a:t>
            </a:r>
            <a:r>
              <a:rPr lang="en-US" sz="13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已突破 99%，Kaggle LogLoss </a:t>
            </a:r>
            <a:r>
              <a:rPr lang="en-US" altLang="zh-CN" sz="13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0.10194</a:t>
            </a:r>
            <a:r>
              <a:rPr lang="zh-CN" altLang="en-US" sz="13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3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待完整评估</a:t>
            </a:r>
            <a:endParaRPr lang="en-US" sz="1300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推理加速：ONNX 导出 + TensorRT Engine 构建，对比推理延迟与吞吐</a:t>
            </a:r>
            <a:endParaRPr lang="en-US" sz="1300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细粒度分类：将 SE-ResNet 迁移至其他动物品种分类任务</a:t>
            </a:r>
            <a:endParaRPr lang="en-US" sz="1300" dirty="0"/>
          </a:p>
          <a:p>
            <a:pPr marL="0" indent="0" algn="l">
              <a:lnSpc>
                <a:spcPct val="18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数据增强进化：探索 TrivialAugment、AugMix 等更先进的增强策略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0" y="1188720"/>
            <a:ext cx="27432" cy="22860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9" name="Text 7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SE-ResNet 的猫狗图像分类系统  |  2026 年春季学期  |  </a:t>
            </a:r>
            <a:r>
              <a:rPr lang="zh-CN" alt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创新实践高级实训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9" name="Text 7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SE-ResNet 的猫狗图像分类系统  |  2026 年春季学期  |  </a:t>
            </a:r>
            <a:r>
              <a:rPr lang="zh-CN" altLang="en-US" sz="10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创新实践高级实训</a:t>
            </a:r>
            <a:endParaRPr lang="en-US" sz="1000" dirty="0"/>
          </a:p>
        </p:txBody>
      </p:sp>
      <p:sp>
        <p:nvSpPr>
          <p:cNvPr id="6" name="文本框 5"/>
          <p:cNvSpPr txBox="1"/>
          <p:nvPr/>
        </p:nvSpPr>
        <p:spPr>
          <a:xfrm>
            <a:off x="3301365" y="1866900"/>
            <a:ext cx="25412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>
                <a:solidFill>
                  <a:schemeClr val="bg1"/>
                </a:solidFill>
                <a:latin typeface="+mn-ea"/>
              </a:rPr>
              <a:t>THANKS</a:t>
            </a:r>
            <a:endParaRPr lang="en-US" altLang="zh-CN" sz="480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7.7,&quot;left&quot;:396,&quot;top&quot;:132.65,&quot;width&quot;:302.4}"/>
</p:tagLst>
</file>

<file path=ppt/tags/tag2.xml><?xml version="1.0" encoding="utf-8"?>
<p:tagLst xmlns:p="http://schemas.openxmlformats.org/presentationml/2006/main">
  <p:tag name="KSO_WM_DIAGRAM_VIRTUALLY_FRAME" val="{&quot;height&quot;:197.7,&quot;left&quot;:396,&quot;top&quot;:132.65,&quot;width&quot;:302.4}"/>
</p:tagLst>
</file>

<file path=ppt/tags/tag3.xml><?xml version="1.0" encoding="utf-8"?>
<p:tagLst xmlns:p="http://schemas.openxmlformats.org/presentationml/2006/main">
  <p:tag name="KSO_WM_DIAGRAM_VIRTUALLY_FRAME" val="{&quot;height&quot;:197.7,&quot;left&quot;:396,&quot;top&quot;:132.65,&quot;width&quot;:302.4}"/>
</p:tagLst>
</file>

<file path=ppt/tags/tag4.xml><?xml version="1.0" encoding="utf-8"?>
<p:tagLst xmlns:p="http://schemas.openxmlformats.org/presentationml/2006/main">
  <p:tag name="KSO_WM_DIAGRAM_VIRTUALLY_FRAME" val="{&quot;height&quot;:197.7,&quot;left&quot;:396,&quot;top&quot;:132.65,&quot;width&quot;:302.4}"/>
</p:tagLst>
</file>

<file path=ppt/tags/tag5.xml><?xml version="1.0" encoding="utf-8"?>
<p:tagLst xmlns:p="http://schemas.openxmlformats.org/presentationml/2006/main">
  <p:tag name="KSO_WM_DIAGRAM_VIRTUALLY_FRAME" val="{&quot;height&quot;:197.7,&quot;left&quot;:396,&quot;top&quot;:132.65,&quot;width&quot;:302.4}"/>
</p:tagLst>
</file>

<file path=ppt/tags/tag6.xml><?xml version="1.0" encoding="utf-8"?>
<p:tagLst xmlns:p="http://schemas.openxmlformats.org/presentationml/2006/main">
  <p:tag name="KSO_WM_DIAGRAM_VIRTUALLY_FRAME" val="{&quot;height&quot;:197.7,&quot;left&quot;:396,&quot;top&quot;:132.65,&quot;width&quot;:302.4}"/>
</p:tagLst>
</file>

<file path=ppt/tags/tag7.xml><?xml version="1.0" encoding="utf-8"?>
<p:tagLst xmlns:p="http://schemas.openxmlformats.org/presentationml/2006/main">
  <p:tag name="KSO_WM_DIAGRAM_VIRTUALLY_FRAME" val="{&quot;height&quot;:197.7,&quot;left&quot;:396,&quot;top&quot;:132.65,&quot;width&quot;:302.4}"/>
</p:tagLst>
</file>

<file path=ppt/tags/tag8.xml><?xml version="1.0" encoding="utf-8"?>
<p:tagLst xmlns:p="http://schemas.openxmlformats.org/presentationml/2006/main">
  <p:tag name="KSO_WM_DIAGRAM_VIRTUALLY_FRAME" val="{&quot;height&quot;:197.7,&quot;left&quot;:396,&quot;top&quot;:132.65,&quot;width&quot;:302.4}"/>
</p:tagLst>
</file>

<file path=ppt/tags/tag9.xml><?xml version="1.0" encoding="utf-8"?>
<p:tagLst xmlns:p="http://schemas.openxmlformats.org/presentationml/2006/main">
  <p:tag name="KSO_WM_DIAGRAM_VIRTUALLY_FRAME" val="{&quot;height&quot;:197.7,&quot;left&quot;:396,&quot;top&quot;:132.65,&quot;width&quot;:302.4}"/>
</p:tagLst>
</file>

<file path=ppt/tags/tag10.xml><?xml version="1.0" encoding="utf-8"?>
<p:tagLst xmlns:p="http://schemas.openxmlformats.org/presentationml/2006/main">
  <p:tag name="KSO_WM_DIAGRAM_VIRTUALLY_FRAME" val="{&quot;height&quot;:197.7,&quot;left&quot;:396,&quot;top&quot;:132.65,&quot;width&quot;:302.4}"/>
</p:tagLst>
</file>

<file path=ppt/tags/tag11.xml><?xml version="1.0" encoding="utf-8"?>
<p:tagLst xmlns:p="http://schemas.openxmlformats.org/presentationml/2006/main">
  <p:tag name="KSO_WM_DIAGRAM_VIRTUALLY_FRAME" val="{&quot;height&quot;:197.7,&quot;left&quot;:396,&quot;top&quot;:132.65,&quot;width&quot;:302.4}"/>
</p:tagLst>
</file>

<file path=ppt/tags/tag12.xml><?xml version="1.0" encoding="utf-8"?>
<p:tagLst xmlns:p="http://schemas.openxmlformats.org/presentationml/2006/main">
  <p:tag name="KSO_WM_DIAGRAM_VIRTUALLY_FRAME" val="{&quot;height&quot;:197.7,&quot;left&quot;:396,&quot;top&quot;:132.65,&quot;width&quot;:302.4}"/>
</p:tagLst>
</file>

<file path=ppt/tags/tag13.xml><?xml version="1.0" encoding="utf-8"?>
<p:tagLst xmlns:p="http://schemas.openxmlformats.org/presentationml/2006/main">
  <p:tag name="KSO_WM_DIAGRAM_VIRTUALLY_FRAME" val="{&quot;height&quot;:197.7,&quot;left&quot;:396,&quot;top&quot;:132.65,&quot;width&quot;:302.4}"/>
</p:tagLst>
</file>

<file path=ppt/tags/tag14.xml><?xml version="1.0" encoding="utf-8"?>
<p:tagLst xmlns:p="http://schemas.openxmlformats.org/presentationml/2006/main">
  <p:tag name="KSO_WM_DIAGRAM_VIRTUALLY_FRAME" val="{&quot;height&quot;:197.7,&quot;left&quot;:396,&quot;top&quot;:132.65,&quot;width&quot;:302.4}"/>
</p:tagLst>
</file>

<file path=ppt/tags/tag15.xml><?xml version="1.0" encoding="utf-8"?>
<p:tagLst xmlns:p="http://schemas.openxmlformats.org/presentationml/2006/main">
  <p:tag name="KSO_WM_DIAGRAM_VIRTUALLY_FRAME" val="{&quot;height&quot;:197.7,&quot;left&quot;:396,&quot;top&quot;:132.65,&quot;width&quot;:302.4}"/>
</p:tagLst>
</file>

<file path=ppt/tags/tag16.xml><?xml version="1.0" encoding="utf-8"?>
<p:tagLst xmlns:p="http://schemas.openxmlformats.org/presentationml/2006/main">
  <p:tag name="KSO_WM_DIAGRAM_VIRTUALLY_FRAME" val="{&quot;height&quot;:197.7,&quot;left&quot;:396,&quot;top&quot;:132.65,&quot;width&quot;:302.4}"/>
</p:tagLst>
</file>

<file path=ppt/tags/tag17.xml><?xml version="1.0" encoding="utf-8"?>
<p:tagLst xmlns:p="http://schemas.openxmlformats.org/presentationml/2006/main">
  <p:tag name="KSO_WM_DIAGRAM_VIRTUALLY_FRAME" val="{&quot;height&quot;:176.4,&quot;left&quot;:36,&quot;top&quot;:194.4,&quot;width&quot;:306}"/>
</p:tagLst>
</file>

<file path=ppt/tags/tag18.xml><?xml version="1.0" encoding="utf-8"?>
<p:tagLst xmlns:p="http://schemas.openxmlformats.org/presentationml/2006/main">
  <p:tag name="KSO_WM_DIAGRAM_VIRTUALLY_FRAME" val="{&quot;height&quot;:176.4,&quot;left&quot;:36,&quot;top&quot;:194.4,&quot;width&quot;:306}"/>
</p:tagLst>
</file>

<file path=ppt/tags/tag19.xml><?xml version="1.0" encoding="utf-8"?>
<p:tagLst xmlns:p="http://schemas.openxmlformats.org/presentationml/2006/main">
  <p:tag name="KSO_WM_DIAGRAM_VIRTUALLY_FRAME" val="{&quot;height&quot;:176.4,&quot;left&quot;:36,&quot;top&quot;:194.4,&quot;width&quot;:306}"/>
</p:tagLst>
</file>

<file path=ppt/tags/tag20.xml><?xml version="1.0" encoding="utf-8"?>
<p:tagLst xmlns:p="http://schemas.openxmlformats.org/presentationml/2006/main">
  <p:tag name="KSO_WM_DIAGRAM_VIRTUALLY_FRAME" val="{&quot;height&quot;:176.4,&quot;left&quot;:36,&quot;top&quot;:194.4,&quot;width&quot;:306}"/>
</p:tagLst>
</file>

<file path=ppt/tags/tag21.xml><?xml version="1.0" encoding="utf-8"?>
<p:tagLst xmlns:p="http://schemas.openxmlformats.org/presentationml/2006/main">
  <p:tag name="KSO_WM_DIAGRAM_VIRTUALLY_FRAME" val="{&quot;height&quot;:176.4,&quot;left&quot;:36,&quot;top&quot;:194.4,&quot;width&quot;:306}"/>
</p:tagLst>
</file>

<file path=ppt/tags/tag22.xml><?xml version="1.0" encoding="utf-8"?>
<p:tagLst xmlns:p="http://schemas.openxmlformats.org/presentationml/2006/main">
  <p:tag name="KSO_WM_DIAGRAM_VIRTUALLY_FRAME" val="{&quot;height&quot;:176.4,&quot;left&quot;:36,&quot;top&quot;:194.4,&quot;width&quot;:306}"/>
</p:tagLst>
</file>

<file path=ppt/tags/tag23.xml><?xml version="1.0" encoding="utf-8"?>
<p:tagLst xmlns:p="http://schemas.openxmlformats.org/presentationml/2006/main">
  <p:tag name="KSO_WM_DIAGRAM_VIRTUALLY_FRAME" val="{&quot;height&quot;:176.4,&quot;left&quot;:36,&quot;top&quot;:194.4,&quot;width&quot;:306}"/>
</p:tagLst>
</file>

<file path=ppt/tags/tag24.xml><?xml version="1.0" encoding="utf-8"?>
<p:tagLst xmlns:p="http://schemas.openxmlformats.org/presentationml/2006/main">
  <p:tag name="KSO_WM_DIAGRAM_VIRTUALLY_FRAME" val="{&quot;height&quot;:176.4,&quot;left&quot;:36,&quot;top&quot;:194.4,&quot;width&quot;:306}"/>
</p:tagLst>
</file>

<file path=ppt/tags/tag25.xml><?xml version="1.0" encoding="utf-8"?>
<p:tagLst xmlns:p="http://schemas.openxmlformats.org/presentationml/2006/main">
  <p:tag name="KSO_WM_DIAGRAM_VIRTUALLY_FRAME" val="{&quot;height&quot;:176.4,&quot;left&quot;:36,&quot;top&quot;:194.4,&quot;width&quot;:306}"/>
</p:tagLst>
</file>

<file path=ppt/tags/tag26.xml><?xml version="1.0" encoding="utf-8"?>
<p:tagLst xmlns:p="http://schemas.openxmlformats.org/presentationml/2006/main">
  <p:tag name="KSO_WM_DIAGRAM_VIRTUALLY_FRAME" val="{&quot;height&quot;:176.4,&quot;left&quot;:36,&quot;top&quot;:194.4,&quot;width&quot;:306}"/>
</p:tagLst>
</file>

<file path=ppt/tags/tag27.xml><?xml version="1.0" encoding="utf-8"?>
<p:tagLst xmlns:p="http://schemas.openxmlformats.org/presentationml/2006/main">
  <p:tag name="KSO_WM_DIAGRAM_VIRTUALLY_FRAME" val="{&quot;height&quot;:176.4,&quot;left&quot;:36,&quot;top&quot;:194.4,&quot;width&quot;:306}"/>
</p:tagLst>
</file>

<file path=ppt/tags/tag28.xml><?xml version="1.0" encoding="utf-8"?>
<p:tagLst xmlns:p="http://schemas.openxmlformats.org/presentationml/2006/main">
  <p:tag name="KSO_WM_DIAGRAM_VIRTUALLY_FRAME" val="{&quot;height&quot;:176.4,&quot;left&quot;:36,&quot;top&quot;:194.4,&quot;width&quot;:306}"/>
</p:tagLst>
</file>

<file path=ppt/tags/tag29.xml><?xml version="1.0" encoding="utf-8"?>
<p:tagLst xmlns:p="http://schemas.openxmlformats.org/presentationml/2006/main">
  <p:tag name="KSO_WM_DIAGRAM_VIRTUALLY_FRAME" val="{&quot;height&quot;:176.4,&quot;left&quot;:36,&quot;top&quot;:194.4,&quot;width&quot;:306}"/>
</p:tagLst>
</file>

<file path=ppt/tags/tag30.xml><?xml version="1.0" encoding="utf-8"?>
<p:tagLst xmlns:p="http://schemas.openxmlformats.org/presentationml/2006/main">
  <p:tag name="KSO_WM_DIAGRAM_VIRTUALLY_FRAME" val="{&quot;height&quot;:176.4,&quot;left&quot;:36,&quot;top&quot;:194.4,&quot;width&quot;:306}"/>
</p:tagLst>
</file>

<file path=ppt/tags/tag31.xml><?xml version="1.0" encoding="utf-8"?>
<p:tagLst xmlns:p="http://schemas.openxmlformats.org/presentationml/2006/main">
  <p:tag name="KSO_WM_DIAGRAM_VIRTUALLY_FRAME" val="{&quot;height&quot;:176.4,&quot;left&quot;:36,&quot;top&quot;:194.4,&quot;width&quot;:306}"/>
</p:tagLst>
</file>

<file path=ppt/tags/tag32.xml><?xml version="1.0" encoding="utf-8"?>
<p:tagLst xmlns:p="http://schemas.openxmlformats.org/presentationml/2006/main">
  <p:tag name="KSO_WM_DIAGRAM_VIRTUALLY_FRAME" val="{&quot;height&quot;:176.4,&quot;left&quot;:36,&quot;top&quot;:194.4,&quot;width&quot;:306}"/>
</p:tagLst>
</file>

<file path=ppt/tags/tag33.xml><?xml version="1.0" encoding="utf-8"?>
<p:tagLst xmlns:p="http://schemas.openxmlformats.org/presentationml/2006/main">
  <p:tag name="KSO_WM_DIAGRAM_VIRTUALLY_FRAME" val="{&quot;height&quot;:327.6,&quot;left&quot;:21.6,&quot;top&quot;:72,&quot;width&quot;:676.8}"/>
</p:tagLst>
</file>

<file path=ppt/tags/tag34.xml><?xml version="1.0" encoding="utf-8"?>
<p:tagLst xmlns:p="http://schemas.openxmlformats.org/presentationml/2006/main">
  <p:tag name="KSO_WM_DIAGRAM_VIRTUALLY_FRAME" val="{&quot;height&quot;:327.6,&quot;left&quot;:21.6,&quot;top&quot;:72,&quot;width&quot;:676.8}"/>
</p:tagLst>
</file>

<file path=ppt/tags/tag35.xml><?xml version="1.0" encoding="utf-8"?>
<p:tagLst xmlns:p="http://schemas.openxmlformats.org/presentationml/2006/main">
  <p:tag name="KSO_WM_DIAGRAM_VIRTUALLY_FRAME" val="{&quot;height&quot;:327.6,&quot;left&quot;:21.6,&quot;top&quot;:72,&quot;width&quot;:676.8}"/>
</p:tagLst>
</file>

<file path=ppt/tags/tag36.xml><?xml version="1.0" encoding="utf-8"?>
<p:tagLst xmlns:p="http://schemas.openxmlformats.org/presentationml/2006/main">
  <p:tag name="KSO_WM_DIAGRAM_VIRTUALLY_FRAME" val="{&quot;height&quot;:327.6,&quot;left&quot;:21.6,&quot;top&quot;:72,&quot;width&quot;:676.8}"/>
</p:tagLst>
</file>

<file path=ppt/tags/tag37.xml><?xml version="1.0" encoding="utf-8"?>
<p:tagLst xmlns:p="http://schemas.openxmlformats.org/presentationml/2006/main">
  <p:tag name="KSO_WM_DIAGRAM_VIRTUALLY_FRAME" val="{&quot;height&quot;:330.5,&quot;left&quot;:21.6,&quot;top&quot;:69.1,&quot;width&quot;:676.8}"/>
</p:tagLst>
</file>

<file path=ppt/tags/tag38.xml><?xml version="1.0" encoding="utf-8"?>
<p:tagLst xmlns:p="http://schemas.openxmlformats.org/presentationml/2006/main">
  <p:tag name="KSO_WM_DIAGRAM_VIRTUALLY_FRAME" val="{&quot;height&quot;:330.5,&quot;left&quot;:21.6,&quot;top&quot;:69.1,&quot;width&quot;:676.8}"/>
</p:tagLst>
</file>

<file path=ppt/tags/tag39.xml><?xml version="1.0" encoding="utf-8"?>
<p:tagLst xmlns:p="http://schemas.openxmlformats.org/presentationml/2006/main">
  <p:tag name="KSO_WM_DIAGRAM_VIRTUALLY_FRAME" val="{&quot;height&quot;:330.5,&quot;left&quot;:21.6,&quot;top&quot;:69.1,&quot;width&quot;:676.8}"/>
</p:tagLst>
</file>

<file path=ppt/tags/tag40.xml><?xml version="1.0" encoding="utf-8"?>
<p:tagLst xmlns:p="http://schemas.openxmlformats.org/presentationml/2006/main">
  <p:tag name="KSO_WM_DIAGRAM_VIRTUALLY_FRAME" val="{&quot;height&quot;:330.5,&quot;left&quot;:21.6,&quot;top&quot;:69.1,&quot;width&quot;:676.8}"/>
</p:tagLst>
</file>

<file path=ppt/tags/tag41.xml><?xml version="1.0" encoding="utf-8"?>
<p:tagLst xmlns:p="http://schemas.openxmlformats.org/presentationml/2006/main">
  <p:tag name="KSO_WM_DIAGRAM_VIRTUALLY_FRAME" val="{&quot;height&quot;:165.6,&quot;left&quot;:36,&quot;top&quot;:72,&quot;width&quot;:648}"/>
</p:tagLst>
</file>

<file path=ppt/tags/tag42.xml><?xml version="1.0" encoding="utf-8"?>
<p:tagLst xmlns:p="http://schemas.openxmlformats.org/presentationml/2006/main">
  <p:tag name="KSO_WM_DIAGRAM_VIRTUALLY_FRAME" val="{&quot;height&quot;:165.6,&quot;left&quot;:36,&quot;top&quot;:72,&quot;width&quot;:648}"/>
</p:tagLst>
</file>

<file path=ppt/tags/tag43.xml><?xml version="1.0" encoding="utf-8"?>
<p:tagLst xmlns:p="http://schemas.openxmlformats.org/presentationml/2006/main">
  <p:tag name="KSO_WM_DIAGRAM_VIRTUALLY_FRAME" val="{&quot;height&quot;:165.6,&quot;left&quot;:36,&quot;top&quot;:72,&quot;width&quot;:648}"/>
</p:tagLst>
</file>

<file path=ppt/tags/tag44.xml><?xml version="1.0" encoding="utf-8"?>
<p:tagLst xmlns:p="http://schemas.openxmlformats.org/presentationml/2006/main">
  <p:tag name="KSO_WM_DIAGRAM_VIRTUALLY_FRAME" val="{&quot;height&quot;:165.6,&quot;left&quot;:36,&quot;top&quot;:72,&quot;width&quot;:648}"/>
</p:tagLst>
</file>

<file path=ppt/tags/tag45.xml><?xml version="1.0" encoding="utf-8"?>
<p:tagLst xmlns:p="http://schemas.openxmlformats.org/presentationml/2006/main">
  <p:tag name="KSO_WM_DIAGRAM_VIRTUALLY_FRAME" val="{&quot;height&quot;:165.6,&quot;left&quot;:36,&quot;top&quot;:72,&quot;width&quot;:648}"/>
</p:tagLst>
</file>

<file path=ppt/tags/tag46.xml><?xml version="1.0" encoding="utf-8"?>
<p:tagLst xmlns:p="http://schemas.openxmlformats.org/presentationml/2006/main">
  <p:tag name="KSO_WM_DIAGRAM_VIRTUALLY_FRAME" val="{&quot;height&quot;:165.6,&quot;left&quot;:36,&quot;top&quot;:72,&quot;width&quot;:648}"/>
</p:tagLst>
</file>

<file path=ppt/tags/tag47.xml><?xml version="1.0" encoding="utf-8"?>
<p:tagLst xmlns:p="http://schemas.openxmlformats.org/presentationml/2006/main">
  <p:tag name="KSO_WM_DIAGRAM_VIRTUALLY_FRAME" val="{&quot;height&quot;:95.15,&quot;left&quot;:36,&quot;top&quot;:59.65,&quot;width&quot;:658.8}"/>
</p:tagLst>
</file>

<file path=ppt/tags/tag48.xml><?xml version="1.0" encoding="utf-8"?>
<p:tagLst xmlns:p="http://schemas.openxmlformats.org/presentationml/2006/main">
  <p:tag name="KSO_WM_DIAGRAM_VIRTUALLY_FRAME" val="{&quot;height&quot;:95.15,&quot;left&quot;:36,&quot;top&quot;:59.65,&quot;width&quot;:658.8}"/>
</p:tagLst>
</file>

<file path=ppt/tags/tag49.xml><?xml version="1.0" encoding="utf-8"?>
<p:tagLst xmlns:p="http://schemas.openxmlformats.org/presentationml/2006/main">
  <p:tag name="KSO_WM_DIAGRAM_VIRTUALLY_FRAME" val="{&quot;height&quot;:95.15,&quot;left&quot;:36,&quot;top&quot;:59.65,&quot;width&quot;:658.8}"/>
</p:tagLst>
</file>

<file path=ppt/tags/tag50.xml><?xml version="1.0" encoding="utf-8"?>
<p:tagLst xmlns:p="http://schemas.openxmlformats.org/presentationml/2006/main">
  <p:tag name="KSO_WM_DIAGRAM_VIRTUALLY_FRAME" val="{&quot;height&quot;:95.15,&quot;left&quot;:36,&quot;top&quot;:59.65,&quot;width&quot;:658.8}"/>
</p:tagLst>
</file>

<file path=ppt/tags/tag51.xml><?xml version="1.0" encoding="utf-8"?>
<p:tagLst xmlns:p="http://schemas.openxmlformats.org/presentationml/2006/main">
  <p:tag name="KSO_WM_DIAGRAM_VIRTUALLY_FRAME" val="{&quot;height&quot;:95.15,&quot;left&quot;:36,&quot;top&quot;:59.65,&quot;width&quot;:658.8}"/>
</p:tagLst>
</file>

<file path=ppt/tags/tag52.xml><?xml version="1.0" encoding="utf-8"?>
<p:tagLst xmlns:p="http://schemas.openxmlformats.org/presentationml/2006/main">
  <p:tag name="KSO_WM_DIAGRAM_VIRTUALLY_FRAME" val="{&quot;height&quot;:95.15,&quot;left&quot;:36,&quot;top&quot;:59.65,&quot;width&quot;:658.8}"/>
</p:tagLst>
</file>

<file path=ppt/tags/tag53.xml><?xml version="1.0" encoding="utf-8"?>
<p:tagLst xmlns:p="http://schemas.openxmlformats.org/presentationml/2006/main">
  <p:tag name="KSO_WM_DIAGRAM_VIRTUALLY_FRAME" val="{&quot;height&quot;:95.15,&quot;left&quot;:36,&quot;top&quot;:59.65,&quot;width&quot;:658.8}"/>
</p:tagLst>
</file>

<file path=ppt/tags/tag54.xml><?xml version="1.0" encoding="utf-8"?>
<p:tagLst xmlns:p="http://schemas.openxmlformats.org/presentationml/2006/main">
  <p:tag name="KSO_WM_DIAGRAM_VIRTUALLY_FRAME" val="{&quot;height&quot;:95.15,&quot;left&quot;:36,&quot;top&quot;:59.65,&quot;width&quot;:658.8}"/>
</p:tagLst>
</file>

<file path=ppt/tags/tag55.xml><?xml version="1.0" encoding="utf-8"?>
<p:tagLst xmlns:p="http://schemas.openxmlformats.org/presentationml/2006/main">
  <p:tag name="KSO_WM_DIAGRAM_VIRTUALLY_FRAME" val="{&quot;height&quot;:95.15,&quot;left&quot;:36,&quot;top&quot;:59.65,&quot;width&quot;:658.8}"/>
</p:tagLst>
</file>

<file path=ppt/tags/tag56.xml><?xml version="1.0" encoding="utf-8"?>
<p:tagLst xmlns:p="http://schemas.openxmlformats.org/presentationml/2006/main">
  <p:tag name="KSO_WM_DIAGRAM_VIRTUALLY_FRAME" val="{&quot;height&quot;:95.15,&quot;left&quot;:36,&quot;top&quot;:59.65,&quot;width&quot;:658.8}"/>
</p:tagLst>
</file>

<file path=ppt/tags/tag57.xml><?xml version="1.0" encoding="utf-8"?>
<p:tagLst xmlns:p="http://schemas.openxmlformats.org/presentationml/2006/main">
  <p:tag name="KSO_WM_DIAGRAM_VIRTUALLY_FRAME" val="{&quot;height&quot;:95.15,&quot;left&quot;:36,&quot;top&quot;:59.65,&quot;width&quot;:658.8}"/>
</p:tagLst>
</file>

<file path=ppt/tags/tag58.xml><?xml version="1.0" encoding="utf-8"?>
<p:tagLst xmlns:p="http://schemas.openxmlformats.org/presentationml/2006/main">
  <p:tag name="KSO_WM_DIAGRAM_VIRTUALLY_FRAME" val="{&quot;height&quot;:95.15,&quot;left&quot;:36,&quot;top&quot;:59.65,&quot;width&quot;:658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9395</Words>
  <Application>WPS 演示</Application>
  <PresentationFormat>On-screen Show (16:9)</PresentationFormat>
  <Paragraphs>818</Paragraphs>
  <Slides>28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微软雅黑</vt:lpstr>
      <vt:lpstr>Calibri</vt:lpstr>
      <vt:lpstr>Calibri</vt:lpstr>
      <vt:lpstr>Calibri</vt:lpstr>
      <vt:lpstr>Arial Unicode MS</vt:lpstr>
      <vt:lpstr>等线</vt:lpstr>
      <vt:lpstr>Consolas</vt:lpstr>
      <vt:lpstr>Consolas</vt:lpstr>
      <vt:lpstr>Consolas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SE-ResNet 的猫狗图像分类系统</dc:title>
  <dc:creator>SE-ResNet Project Team</dc:creator>
  <dc:subject>PptxGenJS Presentation</dc:subject>
  <cp:lastModifiedBy>醉意流年</cp:lastModifiedBy>
  <cp:revision>2</cp:revision>
  <dcterms:created xsi:type="dcterms:W3CDTF">2026-06-18T13:16:00Z</dcterms:created>
  <dcterms:modified xsi:type="dcterms:W3CDTF">2026-06-18T14:38:09Z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30FCAC26206F40D48C493173B6B78985_12</vt:lpwstr>
  </property>
</Properties>
</file>